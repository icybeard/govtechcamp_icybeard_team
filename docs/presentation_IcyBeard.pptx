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2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0" r:id="rId8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ru-RU" sz="1300" b="0" i="0" u="none" strike="noStrike">
                <a:solidFill>
                  <a:srgbClr val="1B2A4A"/>
                </a:solidFill>
                <a:latin typeface="Calibri"/>
              </a:rPr>
              <a:t>ROC-AUC: модель против прозрачного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Модель (LightGBM)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Паводки</c:v>
                </c:pt>
                <c:pt idx="1">
                  <c:v>Пожары</c:v>
                </c:pt>
                <c:pt idx="2">
                  <c:v>Зима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0.86699999999999999</c:v>
                </c:pt>
                <c:pt idx="1">
                  <c:v>0.83199999999999996</c:v>
                </c:pt>
                <c:pt idx="2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1-448D-971F-2E3AE13C1C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/ индекс</c:v>
                </c:pt>
              </c:strCache>
            </c:strRef>
          </c:tx>
          <c:spPr>
            <a:solidFill>
              <a:srgbClr val="C4CED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Паводки</c:v>
                </c:pt>
                <c:pt idx="1">
                  <c:v>Пожары</c:v>
                </c:pt>
                <c:pt idx="2">
                  <c:v>Зима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0.79400000000000004</c:v>
                </c:pt>
                <c:pt idx="1">
                  <c:v>0.68600000000000005</c:v>
                </c:pt>
                <c:pt idx="2">
                  <c:v>0.46300000000000002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91-448D-971F-2E3AE13C1C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Calibri"/>
              </a:defRPr>
            </a:pPr>
            <a:endParaRPr lang="ru-KZ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9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ru-KZ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ru-KZ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6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2434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13213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GovTech Camp · отборочный этап · команда IcyBeard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Превентивное управление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природными рисками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Риск-скоринг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</a:t>
            </a:r>
            <a:r>
              <a:rPr lang="ru-RU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нных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пунктов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районов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объяснение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каждого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вывода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превентивных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решением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комиссией</a:t>
            </a:r>
            <a:r>
              <a:rPr lang="en-US" sz="15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 err="1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демо: dc.jurek.kz · GitHub: github.com/icybeard/govtechcamp_icybeard_team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 rot="8100000">
            <a:off x="890260" y="5359847"/>
            <a:ext cx="249448" cy="362834"/>
          </a:xfrm>
          <a:prstGeom prst="teardrop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8978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Паводки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5257800"/>
            <a:ext cx="566928" cy="566928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1" name="Shape 9"/>
          <p:cNvSpPr/>
          <p:nvPr/>
        </p:nvSpPr>
        <p:spPr>
          <a:xfrm>
            <a:off x="2719426" y="5371186"/>
            <a:ext cx="340157" cy="340157"/>
          </a:xfrm>
          <a:prstGeom prst="sun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58978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5257800"/>
            <a:ext cx="566928" cy="566928"/>
          </a:xfrm>
          <a:prstGeom prst="ellipse">
            <a:avLst/>
          </a:prstGeom>
          <a:solidFill>
            <a:srgbClr val="4FB6C4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5284" y="5520690"/>
            <a:ext cx="31748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rot="3600000">
            <a:off x="4605284" y="5520690"/>
            <a:ext cx="31748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 rot="7200000">
            <a:off x="4605284" y="5520690"/>
            <a:ext cx="31748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589788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НП (пилот СКО) + 174 района × </a:t>
            </a:r>
            <a:r>
              <a:rPr lang="ru-RU" sz="12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сезона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3" name="Shape 1"/>
          <p:cNvSpPr/>
          <p:nvPr/>
        </p:nvSpPr>
        <p:spPr>
          <a:xfrm>
            <a:off x="701711" y="611551"/>
            <a:ext cx="260787" cy="224277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702259"/>
            <a:ext cx="32918" cy="78236"/>
          </a:xfrm>
          <a:prstGeom prst="rect">
            <a:avLst/>
          </a:prstGeom>
          <a:solidFill>
            <a:srgbClr val="E0503B"/>
          </a:solidFill>
          <a:ln/>
        </p:spPr>
      </p:sp>
      <p:sp>
        <p:nvSpPr>
          <p:cNvPr id="5" name="Shape 3"/>
          <p:cNvSpPr/>
          <p:nvPr/>
        </p:nvSpPr>
        <p:spPr>
          <a:xfrm>
            <a:off x="811987" y="790927"/>
            <a:ext cx="40234" cy="40234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управляет природными ЧС </a:t>
            </a:r>
            <a:r>
              <a:rPr lang="en-US" sz="1500" b="1" dirty="0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реактивно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превентивные меры (обследование дамб, очистка русел, планы эвакуации) планируются субъективно, «по прошлому опыту», а заявки акиматов на превенцию не имеют доказательной базы.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6126480" cy="1965960"/>
          </a:xfrm>
          <a:prstGeom prst="roundRect">
            <a:avLst>
              <a:gd name="adj" fmla="val 3721"/>
            </a:avLst>
          </a:prstGeom>
          <a:solidFill>
            <a:srgbClr val="E9EE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не решает обычная автоматизация?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Свести данные на одну карту можно. Но ответить «какое село затопит при текущем снегозапасе и куда направить ограниченный бюджет в первую очередь» может только модель, обученная на реальных событиях — не эвристика и не ручной свод таблиц.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4526280" cy="1691640"/>
          </a:xfrm>
          <a:prstGeom prst="roundRect">
            <a:avLst>
              <a:gd name="adj" fmla="val 3784"/>
            </a:avLst>
          </a:prstGeom>
          <a:solidFill>
            <a:srgbClr val="E9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664208"/>
            <a:ext cx="45262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118 тыс.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2603297"/>
            <a:ext cx="425196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эвакуированных при паводке 2024 года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3429000"/>
            <a:ext cx="4526280" cy="1691640"/>
          </a:xfrm>
          <a:prstGeom prst="roundRect">
            <a:avLst>
              <a:gd name="adj" fmla="val 3784"/>
            </a:avLst>
          </a:prstGeom>
          <a:solidFill>
            <a:srgbClr val="E9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538728"/>
            <a:ext cx="45262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₸400 млрд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178040" y="4477817"/>
            <a:ext cx="425196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ущерб от паводка 2024 года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53492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5349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</a:rPr>
              <a:t>Нет единой системы, которая показывает, где риск выше и какие меры нужны в первую очередь.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62026" y="622889"/>
            <a:ext cx="170078" cy="17007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09427" y="668244"/>
            <a:ext cx="136063" cy="1360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Пользователь и сценарий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ДЧС / отдел ЧС акимата области — принимает решения по превентивным мерам на основе риска НП и районов.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E9EEF5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не принимает финальных решений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8221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предлагает черновики мер с объяснением; утверждает, отклоняет или отмечает выполненным — только человек. Каждое решение — с аудитом «кто и когда».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19"/>
            <a:ext cx="4663440" cy="1598623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Измеримый результат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303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1100" dirty="0">
                <a:solidFill>
                  <a:schemeClr val="bg1"/>
                </a:solidFill>
              </a:rPr>
              <a:t>Превентивные меры планируются на основе данных и ML-прогнозов, а не только прошлого опыта. Модель прогнозирования пожаров увеличивает охват потенциально опасных дней в 1,5 раза. Заявки акиматов получают прозрачное обоснование через скоринг и анализ факторов.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532120" y="1572768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E9EEF5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1874520"/>
            <a:ext cx="512064" cy="512064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1700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карту риска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084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ранжированные НП / районы по скору 0–100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32120" y="2743200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33288" y="3044952"/>
            <a:ext cx="512064" cy="512064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24" name="Text 22"/>
          <p:cNvSpPr/>
          <p:nvPr/>
        </p:nvSpPr>
        <p:spPr>
          <a:xfrm>
            <a:off x="5733288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871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«почему»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2552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факторы, объясняющие скор конкретного объекта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3913632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E9EEF5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3288" y="4215384"/>
            <a:ext cx="512064" cy="512064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29" name="Text 27"/>
          <p:cNvSpPr/>
          <p:nvPr/>
        </p:nvSpPr>
        <p:spPr>
          <a:xfrm>
            <a:off x="5733288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черновики мер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44256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= скор риска × население (для НП)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32120" y="5084064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5385816"/>
            <a:ext cx="512064" cy="512064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34" name="Text 32"/>
          <p:cNvSpPr/>
          <p:nvPr/>
        </p:nvSpPr>
        <p:spPr>
          <a:xfrm>
            <a:off x="5733288" y="5385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4652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Утверждает или отклоняет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6520" y="5596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фиксируется: кто и когда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1" name="Рисунок 40" descr="Пользователь со сплошной заливкой">
            <a:extLst>
              <a:ext uri="{FF2B5EF4-FFF2-40B4-BE49-F238E27FC236}">
                <a16:creationId xmlns:a16="http://schemas.microsoft.com/office/drawing/2014/main" id="{4EC3C79D-14AF-7CF3-4CCC-327123EDD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258" y="250728"/>
            <a:ext cx="914400" cy="914400"/>
          </a:xfrm>
          <a:prstGeom prst="rect">
            <a:avLst/>
          </a:prstGeom>
        </p:spPr>
      </p:pic>
      <p:pic>
        <p:nvPicPr>
          <p:cNvPr id="43" name="Рисунок 42" descr="Закрыть со сплошной заливкой">
            <a:extLst>
              <a:ext uri="{FF2B5EF4-FFF2-40B4-BE49-F238E27FC236}">
                <a16:creationId xmlns:a16="http://schemas.microsoft.com/office/drawing/2014/main" id="{39925B23-2002-9777-2009-C467B3699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288" y="3267246"/>
            <a:ext cx="634404" cy="6344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624236" y="617220"/>
            <a:ext cx="422516" cy="283464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— платформа сезонных рисков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39" y="1170432"/>
            <a:ext cx="111099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50" i="1" dirty="0">
                <a:solidFill>
                  <a:srgbClr val="002060"/>
                </a:solidFill>
              </a:rPr>
              <a:t>Один инструмент объединяет все этапы работы с рисками: от поиска опасных зон до принятия решений.</a:t>
            </a:r>
            <a:endParaRPr lang="en-US" sz="1850" i="1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9EEF5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29384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 rot="8100000">
            <a:off x="953171" y="2024847"/>
            <a:ext cx="233355" cy="339425"/>
          </a:xfrm>
          <a:prstGeom prst="teardrop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Паводки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221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НП · пилот СКО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6517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TreeSHAP, скор 0–100, ретроспектива сезонов 2010–2026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82219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работает — демо на реальных данных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9EE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3712" y="1929384"/>
            <a:ext cx="530352" cy="530352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659782" y="2035454"/>
            <a:ext cx="318211" cy="318211"/>
          </a:xfrm>
          <a:prstGeom prst="sun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Пожары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12080" y="2221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района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26517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live-метео + история очагов FIRMS; режим «ML-прогноз на сегодня»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382219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работает — демо на реальных данных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69164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E9EE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2752" y="1929384"/>
            <a:ext cx="530352" cy="530352"/>
          </a:xfrm>
          <a:prstGeom prst="ellipse">
            <a:avLst/>
          </a:prstGeom>
          <a:solidFill>
            <a:srgbClr val="4FB6C4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9429" y="2173986"/>
            <a:ext cx="296997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 rot="3600000">
            <a:off x="8419429" y="2173986"/>
            <a:ext cx="296997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rot="7200000">
            <a:off x="8419429" y="2173986"/>
            <a:ext cx="296997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Зима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61120" y="2221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района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02752" y="265176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композитный индекс (гололёд, метель, снегонагрузка, холод) + LightGBM на предупреждениях Казгидромета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02752" y="382219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работает — демо на реальных данных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6390" y="633896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FCC28235-6D86-A699-643A-608A20A12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98264"/>
            <a:ext cx="11109960" cy="21629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CC9931-3635-55D9-5D6F-66123CB86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00" y="230000"/>
            <a:ext cx="7132000" cy="4000000"/>
          </a:xfrm>
          <a:prstGeom prst="rect">
            <a:avLst/>
          </a:prstGeom>
        </p:spPr>
      </p:pic>
      <p:pic>
        <p:nvPicPr>
          <p:cNvPr id="4" name="Picture 3" descr="dash-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000" y="4460000"/>
            <a:ext cx="3542857" cy="217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000" y="4460000"/>
            <a:ext cx="3859382" cy="21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9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— от скора к действию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чёрный ящик: человек всегда видит «почему» и подтверждает действие.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91440" cy="91440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81912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раскладывается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факторы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паводков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слагаемые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у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пожаров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2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зимы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91440" cy="91440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9514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мера имеет прозрачное объяснение: почему она рекомендована, на основе какого риска, факторов и расчёта.</a:t>
            </a:r>
            <a:endParaRPr lang="en-US" sz="13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91440" cy="91440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08376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повышении уровня риска объекту назначается не одна мера, а весь набор действий, соответствующий пройденным порогам.</a:t>
            </a:r>
            <a:endParaRPr lang="en-US" sz="13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91440" cy="91440"/>
          </a:xfrm>
          <a:prstGeom prst="ellipse">
            <a:avLst/>
          </a:prstGeom>
          <a:solidFill>
            <a:srgbClr val="E050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21608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утверждает, отклоняет или отмечает выполненным; решение и автор фиксируются в аудите.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173736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769" y="4416552"/>
            <a:ext cx="278291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76769" y="4594860"/>
            <a:ext cx="2782919" cy="1371600"/>
          </a:xfrm>
          <a:prstGeom prst="roundRect">
            <a:avLst>
              <a:gd name="adj" fmla="val 4667"/>
            </a:avLst>
          </a:prstGeom>
          <a:solidFill>
            <a:srgbClr val="E9EEF5"/>
          </a:solidFill>
          <a:ln/>
        </p:spPr>
      </p:sp>
      <p:sp>
        <p:nvSpPr>
          <p:cNvPr id="24" name="Text 22"/>
          <p:cNvSpPr/>
          <p:nvPr/>
        </p:nvSpPr>
        <p:spPr>
          <a:xfrm>
            <a:off x="476769" y="4704588"/>
            <a:ext cx="278291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7497" y="5445252"/>
            <a:ext cx="249503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 комиссии — с аудитом «кто и когда»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63601" y="4588396"/>
            <a:ext cx="2782919" cy="1371600"/>
          </a:xfrm>
          <a:prstGeom prst="roundRect">
            <a:avLst>
              <a:gd name="adj" fmla="val 4667"/>
            </a:avLst>
          </a:prstGeom>
          <a:solidFill>
            <a:srgbClr val="E9EEF5"/>
          </a:solidFill>
          <a:ln/>
        </p:spPr>
      </p:sp>
      <p:sp>
        <p:nvSpPr>
          <p:cNvPr id="27" name="Text 25"/>
          <p:cNvSpPr/>
          <p:nvPr/>
        </p:nvSpPr>
        <p:spPr>
          <a:xfrm>
            <a:off x="3663601" y="4698124"/>
            <a:ext cx="278291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814329" y="5438788"/>
            <a:ext cx="249503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автономных решений AI — только черновики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2" name="Рисунок 31" descr="Мозг со сплошной заливкой">
            <a:extLst>
              <a:ext uri="{FF2B5EF4-FFF2-40B4-BE49-F238E27FC236}">
                <a16:creationId xmlns:a16="http://schemas.microsoft.com/office/drawing/2014/main" id="{2EB03E5E-C642-8639-2254-2D09E473D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274320"/>
            <a:ext cx="914400" cy="9144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321A02F4-C277-FA5B-24C1-8FE6B1F1C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5" y="296651"/>
            <a:ext cx="4473328" cy="61041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07380" y="588874"/>
            <a:ext cx="249448" cy="340157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69664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даёт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Overpass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населённые пункты, реки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DEM GLO-90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рельеф: превышение над рекой, расстояние до реки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ERA5-Land / Open-Meteo Archive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снегозапас, осадки, зимние индексы (2000–2026)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 — бесплатный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Сводки МЧС / СМИ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таргет: факты затоплений-2024 (17 позитивов, источник на каждый)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очаги пожаров: live за 24 ч + архив 2021–2025 (обучение)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MAP_KEY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live-погода и ветер для метео-индекса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GIBS, geoBoundaries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спутниковые слои; границы областей / районов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нужен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5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0687" y="577535"/>
            <a:ext cx="362834" cy="362834"/>
          </a:xfrm>
          <a:prstGeom prst="gear9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AI/ML-подход и честные метрики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60350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417320"/>
            <a:ext cx="4754880" cy="1783080"/>
          </a:xfrm>
          <a:prstGeom prst="roundRect">
            <a:avLst>
              <a:gd name="adj" fmla="val 4103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08660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</a:t>
            </a:r>
            <a:r>
              <a:rPr lang="ru-RU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</a:t>
            </a: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endParaRPr lang="en-US" sz="13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086600" y="19659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объекта отображаются факторы, влияющие на риск:</a:t>
            </a:r>
            <a:b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Близость к реке → повышение риска</a:t>
            </a:r>
            <a:b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Превышение </a:t>
            </a:r>
            <a:r>
              <a:rPr lang="ru-RU" sz="12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снегозапаса</a:t>
            </a: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повышение риска</a:t>
            </a:r>
            <a:b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Отсутствие критических факторов → меры не требуются</a:t>
            </a:r>
            <a:endParaRPr lang="en-US" sz="12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0" y="33375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086600" y="33375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ML-модель прогнозирования пожаров повышает эффективность патрулирования: она выявляет 55% опасных дней против 36% при использовании стандартного подхода.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0" y="44348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086600" y="44348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u-RU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успешно выделяет наиболее опасные населённые пункты: среди 20 сел с самым высоким риском 8 действительно столкнулись с паводками.</a:t>
            </a:r>
            <a:endParaRPr lang="en-US" sz="1200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Таргет — факт затопления НП весной 2024 (разметка МЧС/СМИ с источником на запись); признаки — рельеф, гидрография, снегозапас/осадки в % от нормы. Тест пожаров — весь 2025 год, честный отложенный период.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против baseline: паводки 0.867 vs 0.794 (5-fold OOF); пожары 0.832 vs 0.686 (отложенный 2025).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1987" y="628559"/>
            <a:ext cx="40234" cy="1814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8330" y="832653"/>
            <a:ext cx="47549" cy="4754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25880" y="4572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Известные ограничения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828800"/>
            <a:ext cx="475488" cy="475488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05622" y="1942917"/>
            <a:ext cx="218724" cy="188103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98525" y="2018995"/>
            <a:ext cx="32918" cy="65617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94867" y="2093362"/>
            <a:ext cx="40234" cy="4023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17320" y="18196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4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geoBoundaries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версия границ основана на данных 2017 года и может требовать актуализации при появлении новых административных единиц.</a:t>
            </a:r>
            <a:endParaRPr lang="en-US" sz="12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475488" cy="475488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529182" y="1942917"/>
            <a:ext cx="218724" cy="188103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622085" y="2018995"/>
            <a:ext cx="32918" cy="65617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18427" y="2093362"/>
            <a:ext cx="40234" cy="4023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0" y="181965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обучена на данных о паводках 2024 года</a:t>
            </a:r>
            <a:endParaRPr lang="en-US" sz="14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4652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подтверждённых случаев были собраны из открытых источников. Текущая версия проверена на одном сезоне событий.</a:t>
            </a:r>
            <a:endParaRPr lang="en-US" sz="12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3977640"/>
            <a:ext cx="475488" cy="475488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5622" y="4091757"/>
            <a:ext cx="218724" cy="188103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98525" y="4167835"/>
            <a:ext cx="32918" cy="65617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94867" y="4242202"/>
            <a:ext cx="40234" cy="4023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417320" y="3968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Очаги NASA FIRMS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Спутниковые очаги пожаров NASA FIRMS загружаются по области покрытия, поэтому возможны точки за пределами границ Казахстана.</a:t>
            </a:r>
            <a:endParaRPr lang="en-US" sz="12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72200" y="37490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9EEF5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400800" y="3977640"/>
            <a:ext cx="475488" cy="475488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29182" y="4091757"/>
            <a:ext cx="218724" cy="188103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622085" y="4167835"/>
            <a:ext cx="32918" cy="65617"/>
          </a:xfrm>
          <a:prstGeom prst="rect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618427" y="4242202"/>
            <a:ext cx="40234" cy="40234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040880" y="3968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ML-прогноз пожарных и зимних рисков по районам</a:t>
            </a:r>
            <a:endParaRPr lang="en-US" sz="14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46520" y="4572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u-RU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ML-модель прогнозирования пожаров и зимы работает на уровне районов (ADM2). Следующий этап — переход к более точной оценке рисков для отдельных населённых пунктов.</a:t>
            </a:r>
            <a:endParaRPr lang="en-US" sz="1250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6065" y="6008951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2434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0503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50687" y="627278"/>
            <a:ext cx="362834" cy="226771"/>
          </a:xfrm>
          <a:prstGeom prst="chevron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25880" y="45720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Дальнейшие шаги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2434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1200" b="1" kern="0" spc="100" dirty="0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100" dirty="0" err="1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Оценка потенциального ущерба</a:t>
            </a:r>
            <a:endParaRPr lang="en-US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ru-RU" sz="12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модели прогнозирования последствий: оценка возможного ущерба при реализации риска, включая затронутые территории, объекты инфраструктуры и население.</a:t>
            </a:r>
            <a:endParaRPr lang="en-US" sz="1250" dirty="0">
              <a:solidFill>
                <a:srgbClr val="B9C6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2434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1200" b="1" kern="0" spc="100" dirty="0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kern="0" spc="100" dirty="0" err="1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Расширение оценки уязвимости</a:t>
            </a:r>
            <a:endParaRPr lang="en-US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ru-RU" sz="12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Учет факторов уязвимости территорий и населённых пунктов: анализ защищённости объектов, социальной инфраструктуры и степени изолированности от служб реагирования.</a:t>
            </a:r>
            <a:endParaRPr lang="en-US" sz="1250" dirty="0">
              <a:solidFill>
                <a:srgbClr val="B9C6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24345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2104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05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программы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0391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ru-RU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Масштабирование на новые риски</a:t>
            </a:r>
            <a:endParaRPr lang="en-US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3063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2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модели на населённые пункты для пожаров и зимних ЧС, а также дальнейшее покрытие новых типов природных угроз.</a:t>
            </a:r>
            <a:endParaRPr lang="en-US" sz="1250" dirty="0">
              <a:solidFill>
                <a:srgbClr val="B9C6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Готовы к основной программе GovTech Camp.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Живое демо: dc.jurek.kz · Код: github.com/icybeard/govtechcamp_icybeard_team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955</Words>
  <Application>Microsoft Office PowerPoint</Application>
  <PresentationFormat>Широкоэкранный</PresentationFormat>
  <Paragraphs>129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Превентивное управление природными рисками</dc:title>
  <dc:subject>PptxGenJS Presentation</dc:subject>
  <dc:creator>IcyBeard</dc:creator>
  <cp:lastModifiedBy>Mellon</cp:lastModifiedBy>
  <cp:revision>22</cp:revision>
  <dcterms:created xsi:type="dcterms:W3CDTF">2026-07-17T12:08:59Z</dcterms:created>
  <dcterms:modified xsi:type="dcterms:W3CDTF">2026-07-17T14:27:22Z</dcterms:modified>
</cp:coreProperties>
</file>